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4" r:id="rId13"/>
    <p:sldId id="282" r:id="rId14"/>
    <p:sldId id="290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2" r:id="rId23"/>
  </p:sldIdLst>
  <p:sldSz cx="9144000" cy="5143500"/>
  <p:notesSz cx="6858000" cy="9144000"/>
  <p:embeddedFontLst>
    <p:embeddedFont>
      <p:font typeface="Roboto" panose="02000000000000000000"/>
      <p:regular r:id="rId27"/>
      <p:italic r:id="rId28"/>
      <p:boldItalic r:id="rId29"/>
    </p:embeddedFont>
    <p:embeddedFont>
      <p:font typeface="Raleway"/>
      <p:regular r:id="rId30"/>
      <p:bold r:id="rId31"/>
      <p:italic r:id="rId32"/>
      <p:boldItalic r:id="rId33"/>
    </p:embeddedFont>
    <p:embeddedFont>
      <p:font typeface="Cabin Condensed Medium" panose="00000606000000000000"/>
      <p:regular r:id="rId34"/>
      <p:bold r:id="rId35"/>
    </p:embeddedFont>
    <p:embeddedFont>
      <p:font typeface="Raleway SemiBold"/>
      <p:regular r:id="rId36"/>
      <p:bold r:id="rId37"/>
      <p:italic r:id="rId38"/>
      <p:boldItalic r:id="rId39"/>
    </p:embeddedFont>
    <p:embeddedFont>
      <p:font typeface="Cabin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4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8C5B"/>
    <a:srgbClr val="286947"/>
    <a:srgbClr val="1B4332"/>
    <a:srgbClr val="95D5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42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font" Target="fonts/font17.fntdata"/><Relationship Id="rId42" Type="http://schemas.openxmlformats.org/officeDocument/2006/relationships/font" Target="fonts/font16.fntdata"/><Relationship Id="rId41" Type="http://schemas.openxmlformats.org/officeDocument/2006/relationships/font" Target="fonts/font15.fntdata"/><Relationship Id="rId40" Type="http://schemas.openxmlformats.org/officeDocument/2006/relationships/font" Target="fonts/font14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38" Type="http://schemas.openxmlformats.org/officeDocument/2006/relationships/font" Target="fonts/font12.fntdata"/><Relationship Id="rId37" Type="http://schemas.openxmlformats.org/officeDocument/2006/relationships/font" Target="fonts/font11.fntdata"/><Relationship Id="rId36" Type="http://schemas.openxmlformats.org/officeDocument/2006/relationships/font" Target="fonts/font10.fntdata"/><Relationship Id="rId35" Type="http://schemas.openxmlformats.org/officeDocument/2006/relationships/font" Target="fonts/font9.fntdata"/><Relationship Id="rId34" Type="http://schemas.openxmlformats.org/officeDocument/2006/relationships/font" Target="fonts/font8.fntdata"/><Relationship Id="rId33" Type="http://schemas.openxmlformats.org/officeDocument/2006/relationships/font" Target="fonts/font7.fntdata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" Target="slides/slide1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23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" name="Google Shape;19;p3"/>
          <p:cNvSpPr txBox="1"/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2" name="Google Shape;22;p4"/>
          <p:cNvSpPr txBox="1"/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" name="Google Shape;25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" name="Google Shape;31;p6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" name="Google Shape;32;p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6"/>
          <p:cNvSpPr txBox="1"/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6"/>
          <p:cNvSpPr txBox="1"/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5" name="Google Shape;55;p10"/>
          <p:cNvSpPr txBox="1"/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 panose="02000000000000000000"/>
              <a:buChar char="●"/>
              <a:defRPr sz="18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 panose="02000000000000000000"/>
              <a:buChar char="○"/>
              <a:defRPr sz="14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 panose="02000000000000000000"/>
              <a:buChar char="■"/>
              <a:defRPr sz="14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 panose="02000000000000000000"/>
              <a:buChar char="●"/>
              <a:defRPr sz="14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 panose="02000000000000000000"/>
              <a:buChar char="○"/>
              <a:defRPr sz="14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 panose="02000000000000000000"/>
              <a:buChar char="■"/>
              <a:defRPr sz="14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 panose="02000000000000000000"/>
              <a:buChar char="●"/>
              <a:defRPr sz="14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 panose="02000000000000000000"/>
              <a:buChar char="○"/>
              <a:defRPr sz="14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 panose="02000000000000000000"/>
              <a:buChar char="■"/>
              <a:defRPr sz="14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6947"/>
        </a:solidFill>
        <a:effectLst/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44225" y="1803350"/>
            <a:ext cx="8382600" cy="1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ct val="162000"/>
              <a:buNone/>
            </a:pPr>
            <a:endParaRPr sz="3300" b="1"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ct val="162000"/>
              <a:buNone/>
            </a:pPr>
            <a:endParaRPr sz="3300" b="1"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ct val="162000"/>
              <a:buNone/>
            </a:pPr>
            <a:r>
              <a:rPr lang="en-GB" sz="3300" b="1">
                <a:latin typeface="Raleway"/>
                <a:ea typeface="Raleway"/>
                <a:cs typeface="Raleway"/>
                <a:sym typeface="Raleway"/>
              </a:rPr>
              <a:t>Minor CapStone Project Presentation(2026)</a:t>
            </a:r>
            <a:endParaRPr sz="3300" b="1"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ct val="162000"/>
              <a:buNone/>
            </a:pPr>
            <a:r>
              <a:rPr lang="en-GB" sz="3300" b="1">
                <a:latin typeface="Raleway"/>
                <a:ea typeface="Raleway"/>
                <a:cs typeface="Raleway"/>
                <a:sym typeface="Raleway"/>
              </a:rPr>
              <a:t>Project Title-</a:t>
            </a:r>
            <a:endParaRPr sz="3300" b="1"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ct val="80000"/>
              <a:buNone/>
            </a:pPr>
            <a:r>
              <a:rPr lang="en-US" sz="6700" b="1">
                <a:latin typeface="Raleway"/>
                <a:ea typeface="Raleway"/>
                <a:cs typeface="Raleway"/>
                <a:sym typeface="Raleway"/>
              </a:rPr>
              <a:t>Circle Up</a:t>
            </a:r>
            <a:endParaRPr lang="en-US" sz="6700"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8" name="Google Shape;68;p13"/>
          <p:cNvSpPr txBox="1"/>
          <p:nvPr>
            <p:ph type="subTitle" idx="1"/>
          </p:nvPr>
        </p:nvSpPr>
        <p:spPr>
          <a:xfrm>
            <a:off x="344170" y="4050030"/>
            <a:ext cx="7926070" cy="900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Cabin Condensed Medium" panose="00000606000000000000"/>
                <a:ea typeface="Cabin Condensed Medium" panose="00000606000000000000"/>
                <a:cs typeface="Cabin Condensed Medium" panose="00000606000000000000"/>
                <a:sym typeface="Cabin Condensed Medium" panose="00000606000000000000"/>
              </a:rPr>
              <a:t>By - </a:t>
            </a:r>
            <a:r>
              <a:rPr lang="en-US" altLang="en-GB">
                <a:latin typeface="Cabin Condensed Medium" panose="00000606000000000000"/>
                <a:ea typeface="Cabin Condensed Medium" panose="00000606000000000000"/>
                <a:cs typeface="Cabin Condensed Medium" panose="00000606000000000000"/>
                <a:sym typeface="Cabin Condensed Medium" panose="00000606000000000000"/>
              </a:rPr>
              <a:t>Zoya Khanam</a:t>
            </a:r>
            <a:endParaRPr lang="en-US" altLang="en-GB">
              <a:latin typeface="Cabin Condensed Medium" panose="00000606000000000000"/>
              <a:ea typeface="Cabin Condensed Medium" panose="00000606000000000000"/>
              <a:cs typeface="Cabin Condensed Medium" panose="00000606000000000000"/>
              <a:sym typeface="Cabin Condensed Medium" panose="00000606000000000000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 altLang="en-US">
                <a:latin typeface="Cabin Condensed Medium" panose="00000606000000000000"/>
                <a:ea typeface="Cabin Condensed Medium" panose="00000606000000000000"/>
                <a:cs typeface="Cabin Condensed Medium" panose="00000606000000000000"/>
                <a:sym typeface="Cabin Condensed Medium" panose="00000606000000000000"/>
              </a:rPr>
              <a:t>submitted on - 14/07/2026</a:t>
            </a:r>
            <a:r>
              <a:rPr lang="en-US" altLang="en-GB">
                <a:latin typeface="Cabin Condensed Medium" panose="00000606000000000000"/>
                <a:ea typeface="Cabin Condensed Medium" panose="00000606000000000000"/>
                <a:cs typeface="Cabin Condensed Medium" panose="00000606000000000000"/>
                <a:sym typeface="Cabin Condensed Medium" panose="00000606000000000000"/>
              </a:rPr>
              <a:t> </a:t>
            </a:r>
            <a:endParaRPr>
              <a:latin typeface="Cabin Condensed Medium" panose="00000606000000000000"/>
              <a:ea typeface="Cabin Condensed Medium" panose="00000606000000000000"/>
              <a:cs typeface="Cabin Condensed Medium" panose="00000606000000000000"/>
              <a:sym typeface="Cabin Condensed Medium" panose="00000606000000000000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Cabin Condensed Medium" panose="00000606000000000000"/>
              <a:ea typeface="Cabin Condensed Medium" panose="00000606000000000000"/>
              <a:cs typeface="Cabin Condensed Medium" panose="00000606000000000000"/>
              <a:sym typeface="Cabin Condensed Medium" panose="00000606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6947"/>
        </a:solidFill>
        <a:effectLst/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282575" y="0"/>
            <a:ext cx="9143365" cy="602615"/>
          </a:xfrm>
          <a:prstGeom prst="rect">
            <a:avLst/>
          </a:prstGeom>
          <a:solidFill>
            <a:srgbClr val="286947"/>
          </a:solidFill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Raleway SemiBold"/>
                <a:ea typeface="Raleway SemiBold"/>
                <a:cs typeface="Raleway SemiBold"/>
                <a:sym typeface="Raleway SemiBold"/>
              </a:rPr>
              <a:t>Content</a:t>
            </a:r>
            <a:endParaRPr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471100" y="1168995"/>
            <a:ext cx="7267200" cy="33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Introduction</a:t>
            </a:r>
            <a:endParaRPr sz="18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Tech Stack</a:t>
            </a:r>
            <a:endParaRPr sz="18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Features and Functionality</a:t>
            </a:r>
            <a:endParaRPr sz="18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Data Flow Diagram</a:t>
            </a:r>
            <a:endParaRPr sz="18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Architecture Diagram</a:t>
            </a:r>
            <a:endParaRPr sz="18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Entity-Relationship Diagram</a:t>
            </a:r>
            <a:endParaRPr sz="18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Snapshots</a:t>
            </a:r>
            <a:endParaRPr sz="18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6947"/>
        </a:solidFill>
        <a:effectLst/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Raleway SemiBold"/>
                <a:ea typeface="Raleway SemiBold"/>
                <a:cs typeface="Raleway SemiBold"/>
                <a:sym typeface="Raleway SemiBold"/>
              </a:rPr>
              <a:t>Introduction</a:t>
            </a:r>
            <a:endParaRPr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339800" y="1003975"/>
            <a:ext cx="8495400" cy="38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r>
              <a:rPr lang="en-US" alt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CircleUp is a full-stack web platform where user can create activities and can discover, filter, and request to join them. The host can approve or reject requests and the capacity is enforced automatically.</a:t>
            </a:r>
            <a:endParaRPr lang="en-US" altLang="en-US" sz="16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marR="0" lvl="0" indent="0" algn="l" rtl="0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lang="en-US" altLang="en-US" sz="16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r>
              <a:rPr lang="en-US" altLang="en-US" sz="1600" b="1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Key highlights:</a:t>
            </a:r>
            <a:endParaRPr lang="en-US" altLang="en-US" sz="1600" b="1" i="0" u="none" strike="noStrike" cap="none">
              <a:solidFill>
                <a:srgbClr val="000000"/>
              </a:solidFill>
              <a:latin typeface="Arial" panose="020B0604020202020204" pitchFamily="34" charset="0"/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marR="0" lvl="0" indent="0" algn="l" rtl="0">
              <a:lnSpc>
                <a:spcPct val="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lang="en-US" altLang="en-US" sz="16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 pitchFamily="34" charset="0"/>
              <a:buChar char="•"/>
            </a:pPr>
            <a:r>
              <a:rPr lang="en-US" altLang="en-US" sz="1600" b="0" i="0" strike="noStrike" cap="none">
                <a:solidFill>
                  <a:srgbClr val="000000"/>
                </a:solidFill>
                <a:latin typeface="Arial" panose="020B0604020202020204" pitchFamily="34" charset="0"/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Built for everyone</a:t>
            </a:r>
            <a:r>
              <a:rPr lang="en-US" alt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- open discovery, with optional gender-specific activities (all / female_only)</a:t>
            </a:r>
            <a:endParaRPr lang="en-US" altLang="en-US" sz="16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 pitchFamily="34" charset="0"/>
              <a:buChar char="•"/>
            </a:pPr>
            <a:r>
              <a:rPr lang="en-US" alt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Location, category, and date-based filtering</a:t>
            </a:r>
            <a:endParaRPr lang="en-US" altLang="en-US" sz="16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 pitchFamily="34" charset="0"/>
              <a:buChar char="•"/>
            </a:pPr>
            <a:r>
              <a:rPr lang="en-US" alt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Safe &amp; authorized - JWT auth, Argon2 password hashing, ownership-based access control</a:t>
            </a:r>
            <a:endParaRPr lang="en-US" altLang="en-US" sz="16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6947"/>
        </a:solidFill>
        <a:effectLst/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Raleway SemiBold"/>
                <a:ea typeface="Raleway SemiBold"/>
                <a:cs typeface="Raleway SemiBold"/>
                <a:sym typeface="Raleway SemiBold"/>
              </a:rPr>
              <a:t>Features and Functionality</a:t>
            </a:r>
            <a:endParaRPr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-212725" y="800100"/>
            <a:ext cx="8078470" cy="394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001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00" b="0" i="0" u="sng" strike="noStrike" cap="none">
                <a:solidFill>
                  <a:srgbClr val="000000"/>
                </a:solidFill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Activity Discovery</a:t>
            </a:r>
            <a:r>
              <a:rPr lang="en-US" alt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 - filter by category, location, date, and gender</a:t>
            </a:r>
            <a:endParaRPr lang="en-US" altLang="en-US" sz="16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12001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16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12001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00" b="0" i="0" u="sng" strike="noStrike" cap="none">
                <a:solidFill>
                  <a:srgbClr val="000000"/>
                </a:solidFill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Participation Flow</a:t>
            </a:r>
            <a:r>
              <a:rPr lang="en-US" alt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 - user requests to join → host approves/rejects → status updates (pending/approved/rejected)</a:t>
            </a:r>
            <a:endParaRPr lang="en-US" altLang="en-US" sz="16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12001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16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12001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00" b="0" i="0" u="sng" strike="noStrike" cap="none">
                <a:solidFill>
                  <a:srgbClr val="000000"/>
                </a:solidFill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Capacity Locking</a:t>
            </a:r>
            <a:r>
              <a:rPr lang="en-US" alt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 - with_for_update() pessimistic locking prevents overbooking under concurrent requests</a:t>
            </a:r>
            <a:endParaRPr lang="en-US" altLang="en-US" sz="16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12001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16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12001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00" b="0" i="0" u="sng" strike="noStrike" cap="none">
                <a:solidFill>
                  <a:srgbClr val="000000"/>
                </a:solidFill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Host Dashboard</a:t>
            </a:r>
            <a:r>
              <a:rPr lang="en-US" alt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 - live pending-request counts, one-click approve/reject</a:t>
            </a:r>
            <a:endParaRPr lang="en-US" altLang="en-US" sz="16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12001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16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12001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00" b="0" i="0" u="sng" strike="noStrike" cap="none">
                <a:solidFill>
                  <a:srgbClr val="000000"/>
                </a:solidFill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Gender-based Filtering</a:t>
            </a:r>
            <a:r>
              <a:rPr lang="en-US" alt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 - activities marked all or female_only</a:t>
            </a:r>
            <a:endParaRPr lang="en-US" altLang="en-US" sz="16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12001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16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12001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00" b="0" i="0" u="sng" strike="noStrike" cap="none">
                <a:solidFill>
                  <a:srgbClr val="000000"/>
                </a:solidFill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Ownership-based Authorization</a:t>
            </a:r>
            <a:r>
              <a:rPr lang="en-US" alt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 - only the creator can modify/manage their activity </a:t>
            </a:r>
            <a:endParaRPr lang="en-US" altLang="en-US" sz="16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12001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16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12001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00" b="0" i="0" u="sng" strike="noStrike" cap="none">
                <a:solidFill>
                  <a:srgbClr val="000000"/>
                </a:solidFill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Auth</a:t>
            </a:r>
            <a:r>
              <a:rPr lang="en-US" alt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 - JWT-based login/signup with Argon2-hashed passwords</a:t>
            </a:r>
            <a:endParaRPr lang="en-US" altLang="en-US" sz="16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6947"/>
        </a:solidFill>
        <a:effectLst/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Raleway SemiBold"/>
                <a:ea typeface="Raleway SemiBold"/>
                <a:cs typeface="Raleway SemiBold"/>
                <a:sym typeface="Raleway SemiBold"/>
              </a:rPr>
              <a:t>Tech Stack</a:t>
            </a:r>
            <a:endParaRPr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-339090" y="1006475"/>
            <a:ext cx="9264015" cy="4307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 b="1" u="sng"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Backend:</a:t>
            </a:r>
            <a:endParaRPr lang="en-US" altLang="en-US" sz="1600" b="1" i="0" u="sng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91440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6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1200150" marR="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FastAPI (Python) — layered architecture: routers → services → repositories</a:t>
            </a:r>
            <a:endParaRPr lang="en-US" altLang="en-US" sz="16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1200150" marR="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PostgreSQL + SQLAlchemy ORM</a:t>
            </a:r>
            <a:endParaRPr lang="en-US" altLang="en-US" sz="1600"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1200150" marR="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Alembic — versioned database migrations</a:t>
            </a:r>
            <a:endParaRPr lang="en-US" altLang="en-US" sz="16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1200150" marR="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JWT for auth tokens + Argon2 (passlib) for password hashing</a:t>
            </a:r>
            <a:endParaRPr lang="en-US" altLang="en-US" sz="16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1200150" marR="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Pydantic schemas </a:t>
            </a:r>
            <a:endParaRPr lang="en-US" altLang="en-US" sz="1600"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1200150" marR="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16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 b="1" u="sng"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Frontend:</a:t>
            </a:r>
            <a:endParaRPr lang="en-US" altLang="en-US" sz="1600" b="1" i="0" u="sng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6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12001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Vanilla JavaScript (no framework)</a:t>
            </a:r>
            <a:endParaRPr lang="en-US" altLang="en-US" sz="16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12001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HTML &amp; CSS - Theme - Nunito font, wheat background, pastel green </a:t>
            </a:r>
            <a:r>
              <a:rPr lang="en-IN" altLang="en-US" sz="1600"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brand color</a:t>
            </a:r>
            <a:endParaRPr lang="en-US" altLang="en-US" sz="16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12001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Fetch API to </a:t>
            </a:r>
            <a:r>
              <a:rPr lang="en-IN" altLang="en-US" sz="1600"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call </a:t>
            </a:r>
            <a:r>
              <a:rPr lang="en-US" altLang="en-US" sz="1600"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backend REST endpoints</a:t>
            </a:r>
            <a:endParaRPr lang="en-US" altLang="en-US" sz="16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  <a:p>
            <a:pPr marL="12001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ea typeface="Cabin"/>
                <a:cs typeface="Arial" panose="020B0604020202020204" pitchFamily="34" charset="0"/>
                <a:sym typeface="Cabin"/>
              </a:rPr>
              <a:t>Served via FastAPI StaticFiles at localhost:8000</a:t>
            </a:r>
            <a:endParaRPr lang="en-US" altLang="en-US" sz="1600">
              <a:latin typeface="Arial" panose="020B0604020202020204" pitchFamily="34" charset="0"/>
              <a:ea typeface="Cabin"/>
              <a:cs typeface="Arial" panose="020B0604020202020204" pitchFamily="34" charset="0"/>
              <a:sym typeface="Cabi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6947"/>
        </a:solidFill>
        <a:effectLst/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Raleway SemiBold"/>
                <a:ea typeface="Raleway SemiBold"/>
                <a:cs typeface="Raleway SemiBold"/>
                <a:sym typeface="Raleway SemiBold"/>
              </a:rPr>
              <a:t>Architecture Diagram</a:t>
            </a:r>
            <a:endParaRPr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708660"/>
            <a:ext cx="9144635" cy="44342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6947"/>
        </a:solidFill>
        <a:effectLst/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6750"/>
            <a:ext cx="9144000" cy="4476750"/>
          </a:xfrm>
          <a:prstGeom prst="rect">
            <a:avLst/>
          </a:prstGeom>
        </p:spPr>
      </p:pic>
      <p:sp>
        <p:nvSpPr>
          <p:cNvPr id="101" name="Google Shape;101;p19"/>
          <p:cNvSpPr txBox="1"/>
          <p:nvPr>
            <p:ph type="title"/>
          </p:nvPr>
        </p:nvSpPr>
        <p:spPr>
          <a:xfrm>
            <a:off x="98425" y="0"/>
            <a:ext cx="8826500" cy="666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Raleway SemiBold"/>
                <a:ea typeface="Raleway SemiBold"/>
                <a:cs typeface="Raleway SemiBold"/>
                <a:sym typeface="Raleway SemiBold"/>
              </a:rPr>
              <a:t>Entity-Relationship Diagram</a:t>
            </a:r>
            <a:endParaRPr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6947"/>
        </a:solidFill>
        <a:effectLst/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237315" y="-16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Raleway SemiBold"/>
                <a:ea typeface="Raleway SemiBold"/>
                <a:cs typeface="Raleway SemiBold"/>
                <a:sym typeface="Raleway SemiBold"/>
              </a:rPr>
              <a:t>Data Flow Diagram</a:t>
            </a:r>
            <a:endParaRPr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885" t="-213"/>
          <a:stretch>
            <a:fillRect/>
          </a:stretch>
        </p:blipFill>
        <p:spPr>
          <a:xfrm>
            <a:off x="98425" y="1317625"/>
            <a:ext cx="8965565" cy="299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6947"/>
        </a:solidFill>
        <a:effectLst/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Raleway SemiBold"/>
                <a:ea typeface="Raleway SemiBold"/>
                <a:cs typeface="Raleway SemiBold"/>
                <a:sym typeface="Raleway SemiBold"/>
              </a:rPr>
              <a:t>Snapshots</a:t>
            </a:r>
            <a:r>
              <a:rPr lang="en-IN" altLang="en-GB">
                <a:latin typeface="Raleway SemiBold"/>
                <a:ea typeface="Raleway SemiBold"/>
                <a:cs typeface="Raleway SemiBold"/>
                <a:sym typeface="Raleway SemiBold"/>
              </a:rPr>
              <a:t> - Landing page</a:t>
            </a:r>
            <a:endParaRPr lang="en-IN" altLang="en-GB"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86435"/>
            <a:ext cx="9144000" cy="4165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6947"/>
        </a:solidFill>
        <a:effectLst/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Raleway SemiBold"/>
                <a:ea typeface="Raleway SemiBold"/>
                <a:cs typeface="Raleway SemiBold"/>
                <a:sym typeface="Raleway SemiBold"/>
              </a:rPr>
              <a:t>Snapshots</a:t>
            </a:r>
            <a:r>
              <a:rPr lang="en-IN" altLang="en-GB">
                <a:latin typeface="Raleway SemiBold"/>
                <a:ea typeface="Raleway SemiBold"/>
                <a:cs typeface="Raleway SemiBold"/>
                <a:sym typeface="Raleway SemiBold"/>
              </a:rPr>
              <a:t>- login page</a:t>
            </a:r>
            <a:endParaRPr lang="en-IN" altLang="en-GB"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19125"/>
            <a:ext cx="9144000" cy="41509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6947"/>
        </a:solidFill>
        <a:effectLst/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Raleway SemiBold"/>
                <a:ea typeface="Raleway SemiBold"/>
                <a:cs typeface="Raleway SemiBold"/>
                <a:sym typeface="Raleway SemiBold"/>
              </a:rPr>
              <a:t>Snapshots</a:t>
            </a:r>
            <a:r>
              <a:rPr lang="en-IN" altLang="en-GB">
                <a:latin typeface="Raleway SemiBold"/>
                <a:ea typeface="Raleway SemiBold"/>
                <a:cs typeface="Raleway SemiBold"/>
                <a:sym typeface="Raleway SemiBold"/>
              </a:rPr>
              <a:t>- activity discovery page</a:t>
            </a:r>
            <a:endParaRPr lang="en-IN" altLang="en-GB"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19125"/>
            <a:ext cx="9144000" cy="415099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125"/>
            <a:ext cx="9144000" cy="41871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6947"/>
        </a:solidFill>
        <a:effectLst/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Raleway SemiBold"/>
                <a:ea typeface="Raleway SemiBold"/>
                <a:cs typeface="Raleway SemiBold"/>
                <a:sym typeface="Raleway SemiBold"/>
              </a:rPr>
              <a:t>Snapshots</a:t>
            </a:r>
            <a:r>
              <a:rPr lang="en-IN" altLang="en-GB">
                <a:latin typeface="Raleway SemiBold"/>
                <a:ea typeface="Raleway SemiBold"/>
                <a:cs typeface="Raleway SemiBold"/>
                <a:sym typeface="Raleway SemiBold"/>
              </a:rPr>
              <a:t>- activity discovery page</a:t>
            </a:r>
            <a:endParaRPr lang="en-IN" altLang="en-GB"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19125"/>
            <a:ext cx="9144000" cy="415099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125"/>
            <a:ext cx="9144000" cy="45650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6947"/>
        </a:solidFill>
        <a:effectLst/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Raleway SemiBold"/>
                <a:ea typeface="Raleway SemiBold"/>
                <a:cs typeface="Raleway SemiBold"/>
                <a:sym typeface="Raleway SemiBold"/>
              </a:rPr>
              <a:t>Snapshots</a:t>
            </a:r>
            <a:r>
              <a:rPr lang="en-IN" altLang="en-GB">
                <a:latin typeface="Raleway SemiBold"/>
                <a:ea typeface="Raleway SemiBold"/>
                <a:cs typeface="Raleway SemiBold"/>
                <a:sym typeface="Raleway SemiBold"/>
              </a:rPr>
              <a:t>- activity details page</a:t>
            </a:r>
            <a:endParaRPr lang="en-IN" altLang="en-GB"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19125"/>
            <a:ext cx="9144000" cy="415099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125"/>
            <a:ext cx="9180830" cy="45243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6947"/>
        </a:solidFill>
        <a:effectLst/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Raleway SemiBold"/>
                <a:ea typeface="Raleway SemiBold"/>
                <a:cs typeface="Raleway SemiBold"/>
                <a:sym typeface="Raleway SemiBold"/>
              </a:rPr>
              <a:t>Snapshots</a:t>
            </a:r>
            <a:r>
              <a:rPr lang="en-IN" altLang="en-GB">
                <a:latin typeface="Raleway SemiBold"/>
                <a:ea typeface="Raleway SemiBold"/>
                <a:cs typeface="Raleway SemiBold"/>
                <a:sym typeface="Raleway SemiBold"/>
              </a:rPr>
              <a:t>- user profile</a:t>
            </a:r>
            <a:endParaRPr lang="en-IN" altLang="en-GB"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2605"/>
            <a:ext cx="9144000" cy="43313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6947"/>
        </a:solidFill>
        <a:effectLst/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Raleway SemiBold"/>
                <a:ea typeface="Raleway SemiBold"/>
                <a:cs typeface="Raleway SemiBold"/>
                <a:sym typeface="Raleway SemiBold"/>
              </a:rPr>
              <a:t>Snapshots</a:t>
            </a:r>
            <a:r>
              <a:rPr lang="en-IN" altLang="en-GB">
                <a:latin typeface="Raleway SemiBold"/>
                <a:ea typeface="Raleway SemiBold"/>
                <a:cs typeface="Raleway SemiBold"/>
                <a:sym typeface="Raleway SemiBold"/>
              </a:rPr>
              <a:t>- my activities section</a:t>
            </a:r>
            <a:endParaRPr lang="en-IN" altLang="en-GB"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53085"/>
            <a:ext cx="9144000" cy="431101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6947"/>
        </a:solidFill>
        <a:effectLst/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Raleway SemiBold"/>
                <a:ea typeface="Raleway SemiBold"/>
                <a:cs typeface="Raleway SemiBold"/>
                <a:sym typeface="Raleway SemiBold"/>
              </a:rPr>
              <a:t>Snapshots</a:t>
            </a:r>
            <a:r>
              <a:rPr lang="en-IN" altLang="en-GB">
                <a:latin typeface="Raleway SemiBold"/>
                <a:ea typeface="Raleway SemiBold"/>
                <a:cs typeface="Raleway SemiBold"/>
                <a:sym typeface="Raleway SemiBold"/>
              </a:rPr>
              <a:t>- my applications</a:t>
            </a:r>
            <a:endParaRPr lang="en-IN" altLang="en-GB"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12445"/>
            <a:ext cx="9144000" cy="43414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6947"/>
        </a:solidFill>
        <a:effectLst/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Raleway SemiBold"/>
                <a:ea typeface="Raleway SemiBold"/>
                <a:cs typeface="Raleway SemiBold"/>
                <a:sym typeface="Raleway SemiBold"/>
              </a:rPr>
              <a:t>Snapshots</a:t>
            </a:r>
            <a:r>
              <a:rPr lang="en-IN" altLang="en-GB">
                <a:latin typeface="Raleway SemiBold"/>
                <a:ea typeface="Raleway SemiBold"/>
                <a:cs typeface="Raleway SemiBold"/>
                <a:sym typeface="Raleway SemiBold"/>
              </a:rPr>
              <a:t>- Manage requests section</a:t>
            </a:r>
            <a:endParaRPr lang="en-IN" altLang="en-GB"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19125"/>
            <a:ext cx="9144000" cy="415099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6730"/>
            <a:ext cx="9144000" cy="43421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6947"/>
        </a:solidFill>
        <a:effectLst/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Raleway SemiBold"/>
                <a:ea typeface="Raleway SemiBold"/>
                <a:cs typeface="Raleway SemiBold"/>
                <a:sym typeface="Raleway SemiBold"/>
              </a:rPr>
              <a:t>Snapshots</a:t>
            </a:r>
            <a:r>
              <a:rPr lang="en-IN" altLang="en-GB">
                <a:latin typeface="Raleway SemiBold"/>
                <a:ea typeface="Raleway SemiBold"/>
                <a:cs typeface="Raleway SemiBold"/>
                <a:sym typeface="Raleway SemiBold"/>
              </a:rPr>
              <a:t>- Create activity form</a:t>
            </a:r>
            <a:endParaRPr lang="en-IN" altLang="en-GB"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19125"/>
            <a:ext cx="9144000" cy="415099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5295"/>
            <a:ext cx="9144000" cy="44157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6947"/>
        </a:solidFill>
        <a:effectLst/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Raleway SemiBold"/>
                <a:ea typeface="Raleway SemiBold"/>
                <a:cs typeface="Raleway SemiBold"/>
                <a:sym typeface="Raleway SemiBold"/>
              </a:rPr>
              <a:t>Snapshots</a:t>
            </a:r>
            <a:r>
              <a:rPr lang="en-IN" altLang="en-GB">
                <a:latin typeface="Raleway SemiBold"/>
                <a:ea typeface="Raleway SemiBold"/>
                <a:cs typeface="Raleway SemiBold"/>
                <a:sym typeface="Raleway SemiBold"/>
              </a:rPr>
              <a:t>- girls only activity (additional feature)</a:t>
            </a:r>
            <a:endParaRPr lang="en-IN" altLang="en-GB"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17525"/>
            <a:ext cx="9144000" cy="43211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6947"/>
        </a:solidFill>
        <a:effectLst/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949575" y="2640965"/>
            <a:ext cx="304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US" sz="2400"/>
              <a:t>Thank You</a:t>
            </a:r>
            <a:endParaRPr lang="en-IN" alt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2127</Words>
  <Application>WPS Presentation</Application>
  <PresentationFormat/>
  <Paragraphs>92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SimSun</vt:lpstr>
      <vt:lpstr>Wingdings</vt:lpstr>
      <vt:lpstr>Arial</vt:lpstr>
      <vt:lpstr>Roboto</vt:lpstr>
      <vt:lpstr>Raleway</vt:lpstr>
      <vt:lpstr>Cabin Condensed Medium</vt:lpstr>
      <vt:lpstr>Raleway SemiBold</vt:lpstr>
      <vt:lpstr>Cabin</vt:lpstr>
      <vt:lpstr>Microsoft YaHei</vt:lpstr>
      <vt:lpstr>Arial Unicode MS</vt:lpstr>
      <vt:lpstr>Material</vt:lpstr>
      <vt:lpstr>Circle Up</vt:lpstr>
      <vt:lpstr>Content</vt:lpstr>
      <vt:lpstr>Introduction</vt:lpstr>
      <vt:lpstr>Features and Functionality</vt:lpstr>
      <vt:lpstr>Tech Stack</vt:lpstr>
      <vt:lpstr>Architecture Diagram</vt:lpstr>
      <vt:lpstr>Entity-Relationship Diagram</vt:lpstr>
      <vt:lpstr>Data Flow Diagram</vt:lpstr>
      <vt:lpstr>Snapshots</vt:lpstr>
      <vt:lpstr>Snapshots</vt:lpstr>
      <vt:lpstr>Snapshots</vt:lpstr>
      <vt:lpstr>Snapshots</vt:lpstr>
      <vt:lpstr>Snapshots</vt:lpstr>
      <vt:lpstr>Snapshots</vt:lpstr>
      <vt:lpstr>Snapshots</vt:lpstr>
      <vt:lpstr>Snapshots</vt:lpstr>
      <vt:lpstr>Snapshots</vt:lpstr>
      <vt:lpstr>Snapshots</vt:lpstr>
      <vt:lpstr>Snapshots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Minor CapStone Project Presentation(2026)Project Title-Circle Up</dc:title>
  <dc:creator/>
  <cp:lastModifiedBy>Zoya Khanam</cp:lastModifiedBy>
  <cp:revision>5</cp:revision>
  <dcterms:created xsi:type="dcterms:W3CDTF">2026-07-09T15:07:00Z</dcterms:created>
  <dcterms:modified xsi:type="dcterms:W3CDTF">2026-07-14T12:15:10Z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1033-12.1.0.27455</vt:lpwstr>
  </property>
  <property fmtid="{D5CDD505-2E9C-101B-9397-08002B2CF9AE}" pid="3" name="ICV">
    <vt:lpwstr>C2399C1CB49D490BAB9E12F4B47663A2_13</vt:lpwstr>
  </property>
</Properties>
</file>